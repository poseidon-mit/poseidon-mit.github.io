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936"/>
    <p:restoredTop sz="80779"/>
  </p:normalViewPr>
  <p:slideViewPr>
    <p:cSldViewPr snapToGrid="0" snapToObjects="1">
      <p:cViewPr varScale="1">
        <p:scale>
          <a:sx n="91" d="100"/>
          <a:sy n="91" d="100"/>
        </p:scale>
        <p:origin x="2056" y="480"/>
      </p:cViewPr>
      <p:guideLst>
        <p:guide orient="horz" pos="2160"/>
        <p:guide pos="2880"/>
      </p:guideLst>
    </p:cSldViewPr>
  </p:slideViewPr>
  <p:notesTextViewPr>
    <p:cViewPr>
      <p:scale>
        <a:sx n="55" d="100"/>
        <a:sy n="5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AAABBB-AD2B-D242-ABE7-3CDB9BC0090F}" type="datetimeFigureOut">
              <a:rPr lang="en-US" smtClean="0"/>
              <a:t>3/5/26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56791E-B41F-B140-A70C-4D40000BD75A}" type="slidenum">
              <a:rPr lang="en-US" smtClean="0"/>
              <a:t>‹#›</a:t>
            </a:fld>
            <a:endParaRPr lang="en-US"/>
          </a:p>
        </p:txBody>
      </p:sp>
    </p:spTree>
    <p:extLst>
      <p:ext uri="{BB962C8B-B14F-4D97-AF65-F5344CB8AC3E}">
        <p14:creationId xmlns:p14="http://schemas.microsoft.com/office/powerpoint/2010/main" val="6338477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[0:00 - 0:14 | 14 seconds] Slide 1 — Title</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are CTO Group 7. Poseidon is an AI-native money platform that turns fragmented financial data into safe, auditable actions that users explicitly approve.</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1</a:t>
            </a:fld>
            <a:endParaRPr lang="en-US"/>
          </a:p>
        </p:txBody>
      </p:sp>
    </p:spTree>
    <p:extLst>
      <p:ext uri="{BB962C8B-B14F-4D97-AF65-F5344CB8AC3E}">
        <p14:creationId xmlns:p14="http://schemas.microsoft.com/office/powerpoint/2010/main" val="347879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[0:16 - 1:00 | 44 seconds] Slide 2 — The Coordination Gap</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Here is the problem. Fintech solved visibility but not coordination. Your money lives across banking, credit cards, investments, and budgets that cannot act together. You are the manual integration layer.</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Imagine payday. Salary deposits to one bank. Bills pull from another. Autopay is static. Investments sit idle. Nobody is coordinating cash flow or doing holistic portfolio analysis across all of these.</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cost is real. $133 a month in subscription waste. $12.5 billion in annual fraud losses. $6 billion in avoidable overdraft fees.</a:t>
            </a:r>
          </a:p>
          <a:p>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Fintechs</a:t>
            </a:r>
            <a:r>
              <a:rPr lang="en-US" sz="1200" kern="1200" dirty="0">
                <a:solidFill>
                  <a:schemeClr val="tx1"/>
                </a:solidFill>
                <a:effectLst/>
                <a:latin typeface="+mn-lt"/>
                <a:ea typeface="+mn-ea"/>
                <a:cs typeface="+mn-cs"/>
              </a:rPr>
              <a:t> and some banks now aggregate into a single view. But viewing your finances is different from coordinating them.</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2</a:t>
            </a:fld>
            <a:endParaRPr lang="en-US"/>
          </a:p>
        </p:txBody>
      </p:sp>
    </p:spTree>
    <p:extLst>
      <p:ext uri="{BB962C8B-B14F-4D97-AF65-F5344CB8AC3E}">
        <p14:creationId xmlns:p14="http://schemas.microsoft.com/office/powerpoint/2010/main" val="30176639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[1:02 - 1:26 | 24 seconds] Slide 3 — Why Now</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Three forces converged in 2025.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Data access is standardizing through Open Banking APIs and clarified regulations like GDPR and CCPA.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AI inference costs are dropping at least 10x per year.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And user expectations shifted from dashboards to proactive recommendations.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Together, these make an AI-native coordination viable for the first time.</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3</a:t>
            </a:fld>
            <a:endParaRPr lang="en-US"/>
          </a:p>
        </p:txBody>
      </p:sp>
    </p:spTree>
    <p:extLst>
      <p:ext uri="{BB962C8B-B14F-4D97-AF65-F5344CB8AC3E}">
        <p14:creationId xmlns:p14="http://schemas.microsoft.com/office/powerpoint/2010/main" val="2599539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b="1" kern="1200" dirty="0">
                <a:solidFill>
                  <a:schemeClr val="tx1"/>
                </a:solidFill>
                <a:effectLst/>
                <a:latin typeface="+mn-lt"/>
                <a:ea typeface="+mn-ea"/>
                <a:cs typeface="+mn-cs"/>
              </a:rPr>
              <a:t>[1:28 - 2:06 | 38 seconds] Slide 4 — Poseidon: 4 Engines</a:t>
            </a:r>
            <a:endParaRPr lang="en-US" sz="2000" kern="1200" dirty="0">
              <a:solidFill>
                <a:schemeClr val="tx1"/>
              </a:solidFill>
              <a:effectLst/>
              <a:latin typeface="+mn-lt"/>
              <a:ea typeface="+mn-ea"/>
              <a:cs typeface="+mn-cs"/>
            </a:endParaRPr>
          </a:p>
          <a:p>
            <a:endParaRPr lang="en-US" sz="2000" kern="1200" dirty="0">
              <a:solidFill>
                <a:schemeClr val="tx1"/>
              </a:solidFill>
              <a:effectLst/>
              <a:latin typeface="+mn-lt"/>
              <a:ea typeface="+mn-ea"/>
              <a:cs typeface="+mn-cs"/>
            </a:endParaRPr>
          </a:p>
          <a:p>
            <a:r>
              <a:rPr lang="en-US" sz="2000" kern="1200" dirty="0">
                <a:solidFill>
                  <a:schemeClr val="tx1"/>
                </a:solidFill>
                <a:effectLst/>
                <a:latin typeface="+mn-lt"/>
                <a:ea typeface="+mn-ea"/>
                <a:cs typeface="+mn-cs"/>
              </a:rPr>
              <a:t>We designed Poseidon with governance at its core. Four engines operate as one auditable system.</a:t>
            </a:r>
          </a:p>
          <a:p>
            <a:pPr lvl="0"/>
            <a:endParaRPr lang="en-US" sz="2000" kern="1200" dirty="0">
              <a:solidFill>
                <a:schemeClr val="tx1"/>
              </a:solidFill>
              <a:effectLst/>
              <a:latin typeface="+mn-lt"/>
              <a:ea typeface="+mn-ea"/>
              <a:cs typeface="+mn-cs"/>
            </a:endParaRPr>
          </a:p>
          <a:p>
            <a:pPr lvl="0"/>
            <a:r>
              <a:rPr lang="en-US" sz="2000" kern="1200" dirty="0">
                <a:solidFill>
                  <a:schemeClr val="tx1"/>
                </a:solidFill>
                <a:effectLst/>
                <a:latin typeface="+mn-lt"/>
                <a:ea typeface="+mn-ea"/>
                <a:cs typeface="+mn-cs"/>
              </a:rPr>
              <a:t>- PROTECT detects anomalies across your account using personalized ML models. </a:t>
            </a:r>
          </a:p>
          <a:p>
            <a:pPr lvl="0"/>
            <a:r>
              <a:rPr lang="en-US" sz="2000" kern="1200" dirty="0">
                <a:solidFill>
                  <a:schemeClr val="tx1"/>
                </a:solidFill>
                <a:effectLst/>
                <a:latin typeface="+mn-lt"/>
                <a:ea typeface="+mn-ea"/>
                <a:cs typeface="+mn-cs"/>
              </a:rPr>
              <a:t>- GROW forecasts cash flow and recommends portfolio improvements. </a:t>
            </a:r>
          </a:p>
          <a:p>
            <a:pPr lvl="0"/>
            <a:r>
              <a:rPr lang="en-US" sz="2000" kern="1200" dirty="0">
                <a:solidFill>
                  <a:schemeClr val="tx1"/>
                </a:solidFill>
                <a:effectLst/>
                <a:latin typeface="+mn-lt"/>
                <a:ea typeface="+mn-ea"/>
                <a:cs typeface="+mn-cs"/>
              </a:rPr>
              <a:t>- EXECUTE automates actions that require your explicit approval, with reversible workflows where possible. </a:t>
            </a:r>
          </a:p>
          <a:p>
            <a:pPr lvl="0"/>
            <a:r>
              <a:rPr lang="en-US" sz="2000" kern="1200" dirty="0">
                <a:solidFill>
                  <a:schemeClr val="tx1"/>
                </a:solidFill>
                <a:effectLst/>
                <a:latin typeface="+mn-lt"/>
                <a:ea typeface="+mn-ea"/>
                <a:cs typeface="+mn-cs"/>
              </a:rPr>
              <a:t>- And GOVERN wraps everything, ensuring every AI decision is auditable.</a:t>
            </a:r>
          </a:p>
          <a:p>
            <a:endParaRPr lang="en-US" sz="2000" kern="1200" dirty="0">
              <a:solidFill>
                <a:schemeClr val="tx1"/>
              </a:solidFill>
              <a:effectLst/>
              <a:latin typeface="+mn-lt"/>
              <a:ea typeface="+mn-ea"/>
              <a:cs typeface="+mn-cs"/>
            </a:endParaRPr>
          </a:p>
          <a:p>
            <a:r>
              <a:rPr lang="en-US" sz="2000" kern="1200" dirty="0">
                <a:solidFill>
                  <a:schemeClr val="tx1"/>
                </a:solidFill>
                <a:effectLst/>
                <a:latin typeface="+mn-lt"/>
                <a:ea typeface="+mn-ea"/>
                <a:cs typeface="+mn-cs"/>
              </a:rPr>
              <a:t>The design principle: deterministic ML models compute. GenAI explains in plain English. Agents orchestrate. Humans confidently approve.</a:t>
            </a:r>
          </a:p>
          <a:p>
            <a:endParaRPr lang="en-US" sz="2000" kern="1200" dirty="0">
              <a:solidFill>
                <a:schemeClr val="tx1"/>
              </a:solidFill>
              <a:effectLst/>
              <a:latin typeface="+mn-lt"/>
              <a:ea typeface="+mn-ea"/>
              <a:cs typeface="+mn-cs"/>
            </a:endParaRPr>
          </a:p>
          <a:p>
            <a:r>
              <a:rPr lang="en-US" sz="2000" kern="1200" dirty="0">
                <a:solidFill>
                  <a:schemeClr val="tx1"/>
                </a:solidFill>
                <a:effectLst/>
                <a:latin typeface="+mn-lt"/>
                <a:ea typeface="+mn-ea"/>
                <a:cs typeface="+mn-cs"/>
              </a:rPr>
              <a:t>GenAI never invents numbers. It explains decisions based on evidence with low-temperature generation.</a:t>
            </a:r>
          </a:p>
          <a:p>
            <a:endParaRPr lang="en-US" sz="2000" dirty="0"/>
          </a:p>
        </p:txBody>
      </p:sp>
      <p:sp>
        <p:nvSpPr>
          <p:cNvPr id="4" name="Slide Number Placeholder 3"/>
          <p:cNvSpPr>
            <a:spLocks noGrp="1"/>
          </p:cNvSpPr>
          <p:nvPr>
            <p:ph type="sldNum" sz="quarter" idx="5"/>
          </p:nvPr>
        </p:nvSpPr>
        <p:spPr/>
        <p:txBody>
          <a:bodyPr/>
          <a:lstStyle/>
          <a:p>
            <a:fld id="{5156791E-B41F-B140-A70C-4D40000BD75A}" type="slidenum">
              <a:rPr lang="en-US" smtClean="0"/>
              <a:t>4</a:t>
            </a:fld>
            <a:endParaRPr lang="en-US"/>
          </a:p>
        </p:txBody>
      </p:sp>
    </p:spTree>
    <p:extLst>
      <p:ext uri="{BB962C8B-B14F-4D97-AF65-F5344CB8AC3E}">
        <p14:creationId xmlns:p14="http://schemas.microsoft.com/office/powerpoint/2010/main" val="34151085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[2:08 - 2:19 | 11 seconds] Slide 5 — Beyond Aggregation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Aggregation is commoditized. Poseidon differentiates on predictive intelligence and approval-first execution with full auditability. No competitor currently offers both.</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5</a:t>
            </a:fld>
            <a:endParaRPr lang="en-US"/>
          </a:p>
        </p:txBody>
      </p:sp>
    </p:spTree>
    <p:extLst>
      <p:ext uri="{BB962C8B-B14F-4D97-AF65-F5344CB8AC3E}">
        <p14:creationId xmlns:p14="http://schemas.microsoft.com/office/powerpoint/2010/main" val="27283106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[2:21 - 2:48 | 27 seconds] Slide 6 — Compliance-First Roadmap</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Our roadmap is compliance-first.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Phase 1: bank-grade security, privacy-by-design, LLMOps/MLOps, and pilots for Protection and Growth.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Phase 2: prove the execution engine with measurable precision and reversible workflows.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Phase 3: target 180,000 users, 99.9% availability, and breakeven before scaling. </a:t>
            </a:r>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Phases 4 and 5: expand data sources and move into B2B and white label, only after control maturity.</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6</a:t>
            </a:fld>
            <a:endParaRPr lang="en-US"/>
          </a:p>
        </p:txBody>
      </p:sp>
    </p:spTree>
    <p:extLst>
      <p:ext uri="{BB962C8B-B14F-4D97-AF65-F5344CB8AC3E}">
        <p14:creationId xmlns:p14="http://schemas.microsoft.com/office/powerpoint/2010/main" val="28312078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[2:50 - 3:34 | 44 seconds] Slide 7 — Video</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Let's play the product video.</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Notice how the system flags the anomaly, explains the reasoning, and waits for your approval. That is the core loop. Detect, explain, approve. Every time.</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7</a:t>
            </a:fld>
            <a:endParaRPr lang="en-US"/>
          </a:p>
        </p:txBody>
      </p:sp>
    </p:spTree>
    <p:extLst>
      <p:ext uri="{BB962C8B-B14F-4D97-AF65-F5344CB8AC3E}">
        <p14:creationId xmlns:p14="http://schemas.microsoft.com/office/powerpoint/2010/main" val="24495732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[3:36 - 4:02 | 26 seconds] Slide 8 — Business Model</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use AI coding agents internally, which significantly lowers development cost. That allows subscriptions starting at $7.99 while maintaining 77% gross margins. Still, customer value exceeds cost by over 4.3x.</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In our base scenario, operational breakeven is at Month 12, capital payback at Month 18. </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Even pessimistically, with 1.5% conversion and 10% churn, payback occurs within 31 months.</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8</a:t>
            </a:fld>
            <a:endParaRPr lang="en-US"/>
          </a:p>
        </p:txBody>
      </p:sp>
    </p:spTree>
    <p:extLst>
      <p:ext uri="{BB962C8B-B14F-4D97-AF65-F5344CB8AC3E}">
        <p14:creationId xmlns:p14="http://schemas.microsoft.com/office/powerpoint/2010/main" val="38364794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[4:04 - 4:15 | 11 seconds] Slide 9 — Strategy Summary</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Poseidon is the trusted platform where AI coordination serves human financial wellbeing. Every decision auditable. Every execution human-in-the-loop.</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9</a:t>
            </a:fld>
            <a:endParaRPr lang="en-US"/>
          </a:p>
        </p:txBody>
      </p:sp>
    </p:spTree>
    <p:extLst>
      <p:ext uri="{BB962C8B-B14F-4D97-AF65-F5344CB8AC3E}">
        <p14:creationId xmlns:p14="http://schemas.microsoft.com/office/powerpoint/2010/main" val="3600892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[4:17 - 4:32 | 15 seconds] Slide 10 — Team</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CTO program was tough and totally worth it. It pushed us to build something real. The prototype is live, accessible through the QR code on screen.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Thank you very much. We are happy to take any questions.</a:t>
            </a:r>
          </a:p>
          <a:p>
            <a:endParaRPr lang="en-US" dirty="0"/>
          </a:p>
        </p:txBody>
      </p:sp>
      <p:sp>
        <p:nvSpPr>
          <p:cNvPr id="4" name="Slide Number Placeholder 3"/>
          <p:cNvSpPr>
            <a:spLocks noGrp="1"/>
          </p:cNvSpPr>
          <p:nvPr>
            <p:ph type="sldNum" sz="quarter" idx="5"/>
          </p:nvPr>
        </p:nvSpPr>
        <p:spPr/>
        <p:txBody>
          <a:bodyPr/>
          <a:lstStyle/>
          <a:p>
            <a:fld id="{5156791E-B41F-B140-A70C-4D40000BD75A}" type="slidenum">
              <a:rPr lang="en-US" smtClean="0"/>
              <a:t>10</a:t>
            </a:fld>
            <a:endParaRPr lang="en-US"/>
          </a:p>
        </p:txBody>
      </p:sp>
    </p:spTree>
    <p:extLst>
      <p:ext uri="{BB962C8B-B14F-4D97-AF65-F5344CB8AC3E}">
        <p14:creationId xmlns:p14="http://schemas.microsoft.com/office/powerpoint/2010/main" val="22723871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7.xml"/><Relationship Id="rId1" Type="http://schemas.openxmlformats.org/officeDocument/2006/relationships/video" Target="https://www.youtube.com/embed/ymwtd7X3CYI?feature=oembed" TargetMode="External"/><Relationship Id="rId6" Type="http://schemas.openxmlformats.org/officeDocument/2006/relationships/hyperlink" Target="https://youtu.be/ymwtd7X3CYI?si=cHRwITO--uIWj6xd" TargetMode="External"/><Relationship Id="rId5" Type="http://schemas.openxmlformats.org/officeDocument/2006/relationships/image" Target="../media/image8.jpeg"/><Relationship Id="rId4" Type="http://schemas.openxmlformats.org/officeDocument/2006/relationships/image" Target="../media/image7.jpg"/></Relationships>
</file>

<file path=ppt/slides/_rels/slide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hyperlink" Target="https://poseidon-mit.com/"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1 — The Guardian Arrives"/>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2 — The Coordination Gap"/>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3 — Why Now"/>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4 — The Unified AI Backbone"/>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5 — Beyond Aggregation"/>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6 — Roadmap &amp; Governance"/>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7 — Introduction Video"/>
          <p:cNvPicPr>
            <a:picLocks noChangeAspect="1"/>
          </p:cNvPicPr>
          <p:nvPr/>
        </p:nvPicPr>
        <p:blipFill>
          <a:blip r:embed="rId4"/>
          <a:stretch>
            <a:fillRect/>
          </a:stretch>
        </p:blipFill>
        <p:spPr>
          <a:xfrm>
            <a:off x="0" y="0"/>
            <a:ext cx="12191695" cy="6858000"/>
          </a:xfrm>
          <a:prstGeom prst="rect">
            <a:avLst/>
          </a:prstGeom>
        </p:spPr>
      </p:pic>
      <p:pic>
        <p:nvPicPr>
          <p:cNvPr id="3" name="Online Media 2" descr="Poseidon - CTO Group7">
            <a:hlinkClick r:id="" action="ppaction://media"/>
            <a:extLst>
              <a:ext uri="{FF2B5EF4-FFF2-40B4-BE49-F238E27FC236}">
                <a16:creationId xmlns:a16="http://schemas.microsoft.com/office/drawing/2014/main" id="{850F209F-9347-24BB-BF10-EB4340CA19F9}"/>
              </a:ext>
            </a:extLst>
          </p:cNvPr>
          <p:cNvPicPr>
            <a:picLocks noRot="1" noChangeAspect="1"/>
          </p:cNvPicPr>
          <p:nvPr>
            <a:videoFile r:link="rId1"/>
          </p:nvPr>
        </p:nvPicPr>
        <p:blipFill>
          <a:blip r:embed="rId5"/>
          <a:stretch>
            <a:fillRect/>
          </a:stretch>
        </p:blipFill>
        <p:spPr>
          <a:xfrm>
            <a:off x="2851057" y="2670865"/>
            <a:ext cx="6559391" cy="3411394"/>
          </a:xfrm>
          <a:prstGeom prst="rect">
            <a:avLst/>
          </a:prstGeom>
        </p:spPr>
      </p:pic>
      <p:sp>
        <p:nvSpPr>
          <p:cNvPr id="6" name="Rectangle 5">
            <a:hlinkClick r:id="rId6"/>
            <a:extLst>
              <a:ext uri="{FF2B5EF4-FFF2-40B4-BE49-F238E27FC236}">
                <a16:creationId xmlns:a16="http://schemas.microsoft.com/office/drawing/2014/main" id="{A9755942-D911-2629-A07F-D030CDC354EE}"/>
              </a:ext>
            </a:extLst>
          </p:cNvPr>
          <p:cNvSpPr/>
          <p:nvPr/>
        </p:nvSpPr>
        <p:spPr>
          <a:xfrm>
            <a:off x="9832491" y="4023360"/>
            <a:ext cx="1559857" cy="1807286"/>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8 — Capital-Efficient Monetization"/>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9 — Summary"/>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10 — Epilogue"/>
          <p:cNvPicPr>
            <a:picLocks noChangeAspect="1"/>
          </p:cNvPicPr>
          <p:nvPr/>
        </p:nvPicPr>
        <p:blipFill>
          <a:blip r:embed="rId3"/>
          <a:stretch>
            <a:fillRect/>
          </a:stretch>
        </p:blipFill>
        <p:spPr>
          <a:xfrm>
            <a:off x="0" y="0"/>
            <a:ext cx="12191695" cy="6858000"/>
          </a:xfrm>
          <a:prstGeom prst="rect">
            <a:avLst/>
          </a:prstGeom>
        </p:spPr>
      </p:pic>
      <p:sp>
        <p:nvSpPr>
          <p:cNvPr id="3" name="Rectangle 2">
            <a:hlinkClick r:id="rId4"/>
            <a:extLst>
              <a:ext uri="{FF2B5EF4-FFF2-40B4-BE49-F238E27FC236}">
                <a16:creationId xmlns:a16="http://schemas.microsoft.com/office/drawing/2014/main" id="{1AF0AF32-A6F5-62F0-2AAA-596C5F8AAB1C}"/>
              </a:ext>
            </a:extLst>
          </p:cNvPr>
          <p:cNvSpPr/>
          <p:nvPr/>
        </p:nvSpPr>
        <p:spPr>
          <a:xfrm>
            <a:off x="3782010" y="2139821"/>
            <a:ext cx="1990530" cy="198431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11 — Appendix"/>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12 — Q&amp;A"/>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A304F23-5582-0C46-A0F3-7E9ED7DED65F}">
  <we:reference id="wa200010001" version="1.0.0.0" store="en-US" storeType="OMEX"/>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27</TotalTime>
  <Words>726</Words>
  <Application>Microsoft Macintosh PowerPoint</Application>
  <PresentationFormat>Widescreen</PresentationFormat>
  <Paragraphs>79</Paragraphs>
  <Slides>12</Slides>
  <Notes>10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Poseidon.AI — MIT CTO Capstone 2026</dc:title>
  <dc:subject>AI-Native Personal Finance Platform</dc:subject>
  <dc:creator>Group 7 — MIT Professional Education</dc:creator>
  <cp:keywords>fintech, AI, governance, open banking</cp:keywords>
  <dc:description>generated using python-pptx</dc:description>
  <cp:lastModifiedBy>Shinji Fujiwara</cp:lastModifiedBy>
  <cp:revision>8</cp:revision>
  <dcterms:created xsi:type="dcterms:W3CDTF">2026-03-01T00:00:00Z</dcterms:created>
  <dcterms:modified xsi:type="dcterms:W3CDTF">2026-03-06T00:00:30Z</dcterms:modified>
  <cp:category>Presentation</cp:category>
</cp:coreProperties>
</file>